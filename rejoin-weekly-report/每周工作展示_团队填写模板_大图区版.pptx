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514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团队填写模板 V2</a:t>
            </a:r>
            <a:endParaRPr sz="975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2353945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每周工作</a:t>
            </a:r>
            <a:r>
              <a:rPr lang="en-US" sz="31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Demo</a:t>
            </a:r>
            <a:r>
              <a:rPr sz="31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展示填写模板</a:t>
            </a:r>
            <a:endParaRPr sz="31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877945"/>
            <a:ext cx="3238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3973195"/>
            <a:ext cx="2971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汇报标题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201795"/>
            <a:ext cx="2971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[项目名 / 团队名] 第 [X] 周工作展示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0" y="3877945"/>
            <a:ext cx="18478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133850" y="3973195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汇报人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33850" y="4201795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[姓名 / 角色]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57900" y="3877945"/>
            <a:ext cx="18478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91250" y="3973195"/>
            <a:ext cx="1581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汇报日期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4201795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[YYYY-MM-DD]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2450" y="4811395"/>
            <a:ext cx="3238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906645"/>
            <a:ext cx="2971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适用对象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135245"/>
            <a:ext cx="2971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[团队周会 / 项目例会 / 业务周会]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目标与背景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本周目标与背景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71650"/>
            <a:ext cx="3333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6690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这周为什么做这件事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95500"/>
            <a:ext cx="30670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[客户痛点 / 内部目标 / 项目节点]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示例：为避免周报只有口头说明，本周统一整理交付证据。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95750" y="1771650"/>
            <a:ext cx="3333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229100" y="186690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本周最重要的 1-3 个目标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29100" y="2095500"/>
            <a:ext cx="30670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 [目标一]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 [目标二]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 [目标三]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39050" y="1771650"/>
            <a:ext cx="33909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72400" y="1866900"/>
            <a:ext cx="3124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判断完成的标准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772400" y="2095500"/>
            <a:ext cx="3124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[怎么叫完成？由谁确认？看什么结果？]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3181350"/>
            <a:ext cx="3619500" cy="23812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33528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695700"/>
            <a:ext cx="3276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背景图 / 需求来源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4057650"/>
            <a:ext cx="32766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建议贴需求单、客户反馈、会议纪要、项目看板。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181350"/>
            <a:ext cx="3048000" cy="1104900"/>
          </a:xfrm>
          <a:prstGeom prst="rect">
            <a:avLst/>
          </a:prstGeom>
          <a:solidFill>
            <a:srgbClr val="DCEEF2"/>
          </a:solidFill>
          <a:ln w="9525">
            <a:solidFill>
              <a:srgbClr val="1B7C9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00550" y="3181350"/>
            <a:ext cx="57150" cy="1104900"/>
          </a:xfrm>
          <a:prstGeom prst="rect">
            <a:avLst/>
          </a:prstGeom>
          <a:solidFill>
            <a:srgbClr val="1B7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552950" y="3295650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如何填写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52950" y="3543300"/>
            <a:ext cx="2743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不要只写“做了 X 功能”。要讲为什么现在要做、解决谁的问题、如果不做会怎样。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00550" y="4457700"/>
            <a:ext cx="3048000" cy="1104900"/>
          </a:xfrm>
          <a:prstGeom prst="rect">
            <a:avLst/>
          </a:prstGeom>
          <a:solidFill>
            <a:srgbClr val="F3DCD7"/>
          </a:solidFill>
          <a:ln w="9525">
            <a:solidFill>
              <a:srgbClr val="B44F3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57700"/>
            <a:ext cx="57150" cy="1104900"/>
          </a:xfrm>
          <a:prstGeom prst="rect">
            <a:avLst/>
          </a:prstGeom>
          <a:solidFill>
            <a:srgbClr val="B44F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552950" y="4572000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低分风险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52950" y="4819650"/>
            <a:ext cx="2743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只有任务，没有背景；或者背景过于空泛，和实际交付对不上。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77150" y="3181350"/>
            <a:ext cx="3352800" cy="2381250"/>
          </a:xfrm>
          <a:prstGeom prst="rect">
            <a:avLst/>
          </a:prstGeom>
          <a:solidFill>
            <a:srgbClr val="DDEBDF"/>
          </a:solidFill>
          <a:ln w="9525">
            <a:solidFill>
              <a:srgbClr val="2F875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677150" y="3181350"/>
            <a:ext cx="57150" cy="2381250"/>
          </a:xfrm>
          <a:prstGeom prst="rect">
            <a:avLst/>
          </a:prstGeom>
          <a:solidFill>
            <a:srgbClr val="2F87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829550" y="329565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完整标准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829550" y="3543300"/>
            <a:ext cx="3048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听完这页后，听众能明白：这周工作的价值场景是什么。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完成情况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已完成与未完成工作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71650"/>
            <a:ext cx="209550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8478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工作项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47950" y="1771650"/>
            <a:ext cx="123825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743200" y="18478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86200" y="1771650"/>
            <a:ext cx="342900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81450" y="184785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 / 结果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15200" y="1771650"/>
            <a:ext cx="314325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410450" y="18478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备注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2095500"/>
            <a:ext cx="2095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7700" y="2171700"/>
            <a:ext cx="190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[工作项 1]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647950" y="2095500"/>
            <a:ext cx="1238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743200" y="2171700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[完成/部分完成/未开始]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886200" y="2095500"/>
            <a:ext cx="3429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981450" y="2171700"/>
            <a:ext cx="323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[交付物 / 数据 / 链接说明]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15200" y="2095500"/>
            <a:ext cx="3143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10450" y="21717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[阻塞或补充说明]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2667000"/>
            <a:ext cx="2095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" y="2743200"/>
            <a:ext cx="190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[工作项 2]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647950" y="2667000"/>
            <a:ext cx="1238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743200" y="2743200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[完成/部分完成/未开始]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886200" y="2667000"/>
            <a:ext cx="3429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981450" y="2743200"/>
            <a:ext cx="323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[交付物 / 数据 / 链接说明]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315200" y="2667000"/>
            <a:ext cx="3143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410450" y="27432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[阻塞或补充说明]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3238500"/>
            <a:ext cx="2095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7700" y="3314700"/>
            <a:ext cx="1905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[工作项 3]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647950" y="3238500"/>
            <a:ext cx="1238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743200" y="3314700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[完成/部分完成/未开始]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886200" y="3238500"/>
            <a:ext cx="34290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981450" y="3314700"/>
            <a:ext cx="3238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[交付物 / 数据 / 链接说明]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315200" y="3238500"/>
            <a:ext cx="3143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410450" y="33147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[阻塞或补充说明]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4114800"/>
            <a:ext cx="2667000" cy="148590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52450" y="4286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3900" y="462915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进展概览图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23900" y="4991100"/>
            <a:ext cx="2324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可贴任务看板、页面效果、运行截图。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448050" y="4114800"/>
            <a:ext cx="3676650" cy="1485900"/>
          </a:xfrm>
          <a:prstGeom prst="rect">
            <a:avLst/>
          </a:prstGeom>
          <a:solidFill>
            <a:srgbClr val="F5E4C9"/>
          </a:solidFill>
          <a:ln w="9525">
            <a:solidFill>
              <a:srgbClr val="C9842B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448050" y="4114800"/>
            <a:ext cx="57150" cy="148590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600450" y="4229100"/>
            <a:ext cx="3371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如何填写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600450" y="4476750"/>
            <a:ext cx="3371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“已完成”必须带证据；“未完成”必须写原因和后续动作。没有证据的完成，宁可写成“部分完成”。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353300" y="4114800"/>
            <a:ext cx="3676650" cy="1485900"/>
          </a:xfrm>
          <a:prstGeom prst="rect">
            <a:avLst/>
          </a:prstGeom>
          <a:solidFill>
            <a:srgbClr val="DCEEF2"/>
          </a:solidFill>
          <a:ln w="9525">
            <a:solidFill>
              <a:srgbClr val="1B7C91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353300" y="4114800"/>
            <a:ext cx="57150" cy="1485900"/>
          </a:xfrm>
          <a:prstGeom prst="rect">
            <a:avLst/>
          </a:prstGeom>
          <a:solidFill>
            <a:srgbClr val="1B7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505700" y="4229100"/>
            <a:ext cx="3371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填写提醒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505700" y="4476750"/>
            <a:ext cx="337185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如果工作项很多，保留 3-5 条最关键的，不要把周记原样搬上来。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过程证据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过程证据总览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52600"/>
            <a:ext cx="4381500" cy="876300"/>
          </a:xfrm>
          <a:prstGeom prst="rect">
            <a:avLst/>
          </a:prstGeom>
          <a:solidFill>
            <a:srgbClr val="DCEEF2"/>
          </a:solidFill>
          <a:ln w="9525">
            <a:solidFill>
              <a:srgbClr val="1B7C9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752600"/>
            <a:ext cx="57150" cy="876300"/>
          </a:xfrm>
          <a:prstGeom prst="rect">
            <a:avLst/>
          </a:prstGeom>
          <a:solidFill>
            <a:srgbClr val="1B7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1866900"/>
            <a:ext cx="407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这一页怎么用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114550"/>
            <a:ext cx="4076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先列出这周能证明工作结果的证据类型，再把最关键的截图分别贴到后面两页的大图区里。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819400"/>
            <a:ext cx="4381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914650"/>
            <a:ext cx="411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本周证据类型清单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3143250"/>
            <a:ext cx="41148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 [截图 / 页面]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 [PR / 提交记录]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 [测试 / 构建日志]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 [会议纪要 / 反馈]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5. [表格 / 数据看板]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4648200"/>
            <a:ext cx="4381500" cy="1066800"/>
          </a:xfrm>
          <a:prstGeom prst="rect">
            <a:avLst/>
          </a:prstGeom>
          <a:solidFill>
            <a:srgbClr val="DDEBDF"/>
          </a:solidFill>
          <a:ln w="9525">
            <a:solidFill>
              <a:srgbClr val="2F875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4648200"/>
            <a:ext cx="57150" cy="1066800"/>
          </a:xfrm>
          <a:prstGeom prst="rect">
            <a:avLst/>
          </a:prstGeom>
          <a:solidFill>
            <a:srgbClr val="2F87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4762500"/>
            <a:ext cx="407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最少要求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5010150"/>
            <a:ext cx="4076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至少覆盖 2 类不同证据，不要只有一张页面图。推荐组合：页面 + PR、日志 + 会议纪要、表格 + 客户反馈。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过程证据 A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过程证据页 A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33550"/>
            <a:ext cx="485775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905000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247900"/>
            <a:ext cx="451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证据图 1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609850"/>
            <a:ext cx="45148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建议贴页面效果图、系统截图、操作结果图。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619750" y="1733550"/>
            <a:ext cx="485775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619750" y="1905000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91200" y="2247900"/>
            <a:ext cx="451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证据图 2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91200" y="2609850"/>
            <a:ext cx="45148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 PR、测试结果、构建日志。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4686300"/>
            <a:ext cx="4857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4781550"/>
            <a:ext cx="459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 1 说明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5010150"/>
            <a:ext cx="4591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[这张图证明了什么]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示例：页面已完成并进入可验收状态。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19750" y="4686300"/>
            <a:ext cx="4857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753100" y="4781550"/>
            <a:ext cx="459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 2 说明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53100" y="5010150"/>
            <a:ext cx="4591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[这张图证明了什么]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示例：PR 已合并，测试已通过。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791200"/>
            <a:ext cx="9925050" cy="438150"/>
          </a:xfrm>
          <a:prstGeom prst="rect">
            <a:avLst/>
          </a:prstGeom>
          <a:solidFill>
            <a:srgbClr val="F5E4C9"/>
          </a:solidFill>
          <a:ln w="9525">
            <a:solidFill>
              <a:srgbClr val="C9842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52450" y="5791200"/>
            <a:ext cx="57150" cy="4381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5905500"/>
            <a:ext cx="962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填写提醒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6115050"/>
            <a:ext cx="962025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每张图下面都补一句“它证明了什么”，不要只贴图不解释。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过程证据 B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过程证据页 B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33550"/>
            <a:ext cx="485775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905000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247900"/>
            <a:ext cx="451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证据图 3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609850"/>
            <a:ext cx="45148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建议贴会议纪要、客户反馈、表格截图。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619750" y="1733550"/>
            <a:ext cx="485775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619750" y="1905000"/>
            <a:ext cx="485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91200" y="2247900"/>
            <a:ext cx="451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证据图 4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91200" y="2609850"/>
            <a:ext cx="45148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建议贴错误修复前后对比、风险跟踪图。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4686300"/>
            <a:ext cx="4857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4781550"/>
            <a:ext cx="459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 3 说明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5010150"/>
            <a:ext cx="4591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[这张图证明了什么]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示例：需求口径已确认。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19750" y="4686300"/>
            <a:ext cx="4857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753100" y="4781550"/>
            <a:ext cx="459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 4 说明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53100" y="5010150"/>
            <a:ext cx="4591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[这张图证明了什么]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示例：问题已闭环或风险已降低。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791200"/>
            <a:ext cx="4857750" cy="495300"/>
          </a:xfrm>
          <a:prstGeom prst="rect">
            <a:avLst/>
          </a:prstGeom>
          <a:solidFill>
            <a:srgbClr val="DCEEF2"/>
          </a:solidFill>
          <a:ln w="9525">
            <a:solidFill>
              <a:srgbClr val="1B7C9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52450" y="5791200"/>
            <a:ext cx="57150" cy="495300"/>
          </a:xfrm>
          <a:prstGeom prst="rect">
            <a:avLst/>
          </a:prstGeom>
          <a:solidFill>
            <a:srgbClr val="1B7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04850" y="5905500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补充证据清单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6153150"/>
            <a:ext cx="45529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如果还有更多证据，不一定继续加图，可以在这里写链接：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 [文档 / 链接]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 [数据 / 链接]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 [反馈 / 链接]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619750" y="5791200"/>
            <a:ext cx="4857750" cy="495300"/>
          </a:xfrm>
          <a:prstGeom prst="rect">
            <a:avLst/>
          </a:prstGeom>
          <a:solidFill>
            <a:srgbClr val="DDEBDF"/>
          </a:solidFill>
          <a:ln w="9525">
            <a:solidFill>
              <a:srgbClr val="2F8757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619750" y="5791200"/>
            <a:ext cx="57150" cy="495300"/>
          </a:xfrm>
          <a:prstGeom prst="rect">
            <a:avLst/>
          </a:prstGeom>
          <a:solidFill>
            <a:srgbClr val="2F87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772150" y="5905500"/>
            <a:ext cx="4552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如何判断够不够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72150" y="6153150"/>
            <a:ext cx="45529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听众应该能从这些图里看见：做成了什么、验证过什么、谁确认过。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协作总览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71650"/>
            <a:ext cx="2476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6690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任务类型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955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[需求拆解 / 代码实现 / 测试设计 / 数据分析 / 文档整理 / 风险复核]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238500" y="1771650"/>
            <a:ext cx="2476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371850" y="1866900"/>
            <a:ext cx="2209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这次为什么用 AI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71850" y="2095500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[想解决什么问题 / 提升什么效率]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24550" y="1771650"/>
            <a:ext cx="51054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57900" y="1866900"/>
            <a:ext cx="483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最终结论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57900" y="2095500"/>
            <a:ext cx="4838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[节省了什么 / 发现了什么 / 有哪些限制]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2724150"/>
            <a:ext cx="4762500" cy="762000"/>
          </a:xfrm>
          <a:prstGeom prst="rect">
            <a:avLst/>
          </a:prstGeom>
          <a:solidFill>
            <a:srgbClr val="F5E4C9"/>
          </a:solidFill>
          <a:ln w="9525">
            <a:solidFill>
              <a:srgbClr val="C9842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2724150"/>
            <a:ext cx="57150" cy="76200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4850" y="2838450"/>
            <a:ext cx="4457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填写原则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3086100"/>
            <a:ext cx="4457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页一定要写“人工做了什么”。推荐句式：输入 → 输出 → 审查 → 采纳 / 拒绝。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43550" y="2724150"/>
            <a:ext cx="5486400" cy="762000"/>
          </a:xfrm>
          <a:prstGeom prst="rect">
            <a:avLst/>
          </a:prstGeom>
          <a:solidFill>
            <a:srgbClr val="F3DCD7"/>
          </a:solidFill>
          <a:ln w="9525">
            <a:solidFill>
              <a:srgbClr val="B44F3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543550" y="2724150"/>
            <a:ext cx="57150" cy="762000"/>
          </a:xfrm>
          <a:prstGeom prst="rect">
            <a:avLst/>
          </a:prstGeom>
          <a:solidFill>
            <a:srgbClr val="B44F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695950" y="2838450"/>
            <a:ext cx="518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低分风险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695950" y="3086100"/>
            <a:ext cx="518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只写“用了 AI”，没有提示词、没有人工审查、没有最终判断。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2450" y="3714750"/>
            <a:ext cx="4953000" cy="20002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3886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3900" y="4229100"/>
            <a:ext cx="461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协作概览图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3900" y="4591050"/>
            <a:ext cx="46101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可贴整个对话链路、工作流图、整理后的流程截图。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34050" y="3714750"/>
            <a:ext cx="52959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867400" y="3810000"/>
            <a:ext cx="502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本次 AI 协作最值得讲的 2 件事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867400" y="4038600"/>
            <a:ext cx="502920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 [最关键的一次使用]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 [最能体现人工审查的一次使用]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 A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协作页 A：提示词与输入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33550"/>
            <a:ext cx="4762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28800"/>
            <a:ext cx="449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给 AI 的输入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57400"/>
            <a:ext cx="4495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[提示词摘要 / 约束条件 / 资料来源]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0" y="1733550"/>
            <a:ext cx="4953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657850" y="1828800"/>
            <a:ext cx="468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输出了什么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57850" y="2057400"/>
            <a:ext cx="4686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[方案草稿 / 代码 / 测试建议 / 摘要 / 表格]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2781300"/>
            <a:ext cx="476250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29527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329565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提示词截图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3657600"/>
            <a:ext cx="44196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 prompt、上下文输入、引用资料截图。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0" y="2781300"/>
            <a:ext cx="495300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524500" y="2952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695950" y="3295650"/>
            <a:ext cx="461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输出截图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95950" y="3657600"/>
            <a:ext cx="46101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建议贴回答、代码片段、测试建议等。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734050"/>
            <a:ext cx="9925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829300"/>
            <a:ext cx="965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这一页结论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6057900"/>
            <a:ext cx="96583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[这次输入和输出说明了什么]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9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 B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8572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协作页 B：人工审查与决策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33550"/>
            <a:ext cx="4762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28800"/>
            <a:ext cx="449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人工怎么审查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57400"/>
            <a:ext cx="4495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[核对事实 / 修改内容 / 删除不采纳部分]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0" y="1733550"/>
            <a:ext cx="4953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657850" y="1828800"/>
            <a:ext cx="468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最终怎么决定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57850" y="2057400"/>
            <a:ext cx="4686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[采纳 / 部分采纳 / 拒绝，以及原因]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2450" y="2781300"/>
            <a:ext cx="476250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52450" y="29527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3295650"/>
            <a:ext cx="441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审查截图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" y="3657600"/>
            <a:ext cx="44196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 review 评论、修改前后对比、检查清单。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0" y="2781300"/>
            <a:ext cx="4953000" cy="272415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524500" y="29527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695950" y="3295650"/>
            <a:ext cx="4610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最终结果截图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95950" y="3657600"/>
            <a:ext cx="461010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可贴最终代码、最终文档、最终测试结果。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5734050"/>
            <a:ext cx="9925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829300"/>
            <a:ext cx="9658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这一页结论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6057900"/>
            <a:ext cx="96583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[人工审查带来了什么价值 / 避免了什么问题]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价值与指标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239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价值、指标与变化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71650"/>
            <a:ext cx="238125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8478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指标项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933700" y="1771650"/>
            <a:ext cx="152400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28950" y="1847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上周/基准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57700" y="1771650"/>
            <a:ext cx="152400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52950" y="1847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本周结果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81700" y="1771650"/>
            <a:ext cx="152400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76950" y="1847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下周目标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505700" y="1771650"/>
            <a:ext cx="314325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00950" y="18478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2095500"/>
            <a:ext cx="238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7700" y="2171700"/>
            <a:ext cx="2190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[指标 1]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33700" y="209550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028950" y="217170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[基准值]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57700" y="209550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552950" y="217170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[结果值]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81700" y="209550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76950" y="217170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[目标值]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505700" y="209550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600950" y="217170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[为什么这个指标重要]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686050"/>
            <a:ext cx="238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7700" y="2762250"/>
            <a:ext cx="2190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[指标 2]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933700" y="268605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028950" y="276225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[基准值]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457700" y="268605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552950" y="276225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[结果值]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981700" y="268605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076950" y="276225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[目标值]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505700" y="268605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600950" y="276225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[为什么这个指标重要]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3276600"/>
            <a:ext cx="2381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7700" y="3352800"/>
            <a:ext cx="2190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[指标 3]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933700" y="327660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3028950" y="335280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[基准值]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457700" y="327660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552950" y="335280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[结果值]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981700" y="3276600"/>
            <a:ext cx="1524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076950" y="3352800"/>
            <a:ext cx="1333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[目标值]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505700" y="3276600"/>
            <a:ext cx="3143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600950" y="3352800"/>
            <a:ext cx="295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[为什么这个指标重要]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52450" y="4171950"/>
            <a:ext cx="2857500" cy="156210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52450" y="43434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23900" y="468630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指标图 / 图表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23900" y="5048250"/>
            <a:ext cx="2514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可贴看板、Excel 图、测试报告、工单数据。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638550" y="4171950"/>
            <a:ext cx="3524250" cy="1562100"/>
          </a:xfrm>
          <a:prstGeom prst="rect">
            <a:avLst/>
          </a:prstGeom>
          <a:solidFill>
            <a:srgbClr val="DDEBDF"/>
          </a:solidFill>
          <a:ln w="9525">
            <a:solidFill>
              <a:srgbClr val="2F8757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638550" y="4171950"/>
            <a:ext cx="57150" cy="1562100"/>
          </a:xfrm>
          <a:prstGeom prst="rect">
            <a:avLst/>
          </a:prstGeom>
          <a:solidFill>
            <a:srgbClr val="2F87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790950" y="4286250"/>
            <a:ext cx="321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如何填写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3790950" y="4533900"/>
            <a:ext cx="32194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尽量写变化，而不是静态数字。示例：缺陷关闭率 45% → 67%，准备时间 2.1h → 1.2h。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391400" y="4171950"/>
            <a:ext cx="3638550" cy="1562100"/>
          </a:xfrm>
          <a:prstGeom prst="rect">
            <a:avLst/>
          </a:prstGeom>
          <a:solidFill>
            <a:srgbClr val="DCEEF2"/>
          </a:solidFill>
          <a:ln w="9525">
            <a:solidFill>
              <a:srgbClr val="1B7C91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391400" y="4171950"/>
            <a:ext cx="57150" cy="1562100"/>
          </a:xfrm>
          <a:prstGeom prst="rect">
            <a:avLst/>
          </a:prstGeom>
          <a:solidFill>
            <a:srgbClr val="1B7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543800" y="42862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没法量化怎么办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543800" y="4533900"/>
            <a:ext cx="33337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可以用“数量 + 状态”组合，例如：新增 6 条用例、关闭 3 个风险、采纳 2 条反馈。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风险与问题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7810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风险、问题与处理状态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771650"/>
            <a:ext cx="149225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4680" y="1847850"/>
            <a:ext cx="136779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 / 问题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044700" y="1771650"/>
            <a:ext cx="746125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106930" y="1847850"/>
            <a:ext cx="62166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90825" y="1771650"/>
            <a:ext cx="1989455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53055" y="1847850"/>
            <a:ext cx="186499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影响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80280" y="1771650"/>
            <a:ext cx="111887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42510" y="1847850"/>
            <a:ext cx="99504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缓解动作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99150" y="1771650"/>
            <a:ext cx="1492250" cy="323850"/>
          </a:xfrm>
          <a:prstGeom prst="rect">
            <a:avLst/>
          </a:prstGeom>
          <a:solidFill>
            <a:srgbClr val="1C2639"/>
          </a:solidFill>
          <a:ln w="9525">
            <a:solidFill>
              <a:srgbClr val="1C263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61380" y="1847850"/>
            <a:ext cx="136779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责任人 / 截止时间</a:t>
            </a:r>
            <a:endParaRPr sz="79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2095500"/>
            <a:ext cx="1492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4680" y="2171700"/>
            <a:ext cx="136779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[问题 1]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44700" y="2095500"/>
            <a:ext cx="746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106930" y="2171700"/>
            <a:ext cx="62166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[打开/缓解中/关闭]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790825" y="2095500"/>
            <a:ext cx="198945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853055" y="2171700"/>
            <a:ext cx="186499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[会影响什么]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80280" y="2095500"/>
            <a:ext cx="111887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842510" y="2171700"/>
            <a:ext cx="99504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[已做什么]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899150" y="2095500"/>
            <a:ext cx="1492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961380" y="2171700"/>
            <a:ext cx="136779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[谁负责 / 日期]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2686050"/>
            <a:ext cx="1492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4680" y="2762250"/>
            <a:ext cx="136779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[问题 2]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044700" y="2686050"/>
            <a:ext cx="746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106930" y="2762250"/>
            <a:ext cx="62166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[打开/缓解中/关闭]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790825" y="2686050"/>
            <a:ext cx="198945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853055" y="2762250"/>
            <a:ext cx="186499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[会影响什么]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780280" y="2686050"/>
            <a:ext cx="111887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842510" y="2762250"/>
            <a:ext cx="99504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[已做什么]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899150" y="2686050"/>
            <a:ext cx="1492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961380" y="2762250"/>
            <a:ext cx="136779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[谁负责 / 日期]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3276600"/>
            <a:ext cx="1492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14680" y="3352800"/>
            <a:ext cx="136779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[问题 3]</a:t>
            </a:r>
            <a:endParaRPr sz="76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044700" y="3276600"/>
            <a:ext cx="746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106930" y="3352800"/>
            <a:ext cx="62166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[打开/缓解中/关闭]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790825" y="3276600"/>
            <a:ext cx="198945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853055" y="3352800"/>
            <a:ext cx="186499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[会影响什么]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780280" y="3276600"/>
            <a:ext cx="111887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4842510" y="3352800"/>
            <a:ext cx="99504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[已做什么]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899150" y="3276600"/>
            <a:ext cx="1492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961380" y="3352800"/>
            <a:ext cx="136779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[谁负责 / 日期]</a:t>
            </a:r>
            <a:endParaRPr sz="76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543800" y="1771650"/>
            <a:ext cx="4354195" cy="3867785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543800" y="2212340"/>
            <a:ext cx="4354195" cy="587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04785" y="3093720"/>
            <a:ext cx="3831590" cy="4895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问题现场图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804785" y="4023995"/>
            <a:ext cx="3831590" cy="1174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可贴报错截图、延迟图、风险看板。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52450" y="4133850"/>
            <a:ext cx="3261360" cy="1504950"/>
          </a:xfrm>
          <a:prstGeom prst="rect">
            <a:avLst/>
          </a:prstGeom>
          <a:solidFill>
            <a:srgbClr val="F3DCD7"/>
          </a:solidFill>
          <a:ln w="9525">
            <a:solidFill>
              <a:srgbClr val="B44F3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552450" y="4133850"/>
            <a:ext cx="52705" cy="1504950"/>
          </a:xfrm>
          <a:prstGeom prst="rect">
            <a:avLst/>
          </a:prstGeom>
          <a:solidFill>
            <a:srgbClr val="B44F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93420" y="4248150"/>
            <a:ext cx="29787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如何填写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93420" y="4495800"/>
            <a:ext cx="2978785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不要只写“有风险”。要写状态、影响、动作、责任人。没有责任人的风险，基本等于没处理。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4025265" y="4133850"/>
            <a:ext cx="3366770" cy="1504950"/>
          </a:xfrm>
          <a:prstGeom prst="rect">
            <a:avLst/>
          </a:prstGeom>
          <a:solidFill>
            <a:srgbClr val="F5E4C9"/>
          </a:solidFill>
          <a:ln w="9525">
            <a:solidFill>
              <a:srgbClr val="C9842B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4025265" y="4133850"/>
            <a:ext cx="52705" cy="15049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4166235" y="4248150"/>
            <a:ext cx="308483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建议做法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166235" y="4495800"/>
            <a:ext cx="308483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如果风险很多，保留最影响交付的 3 条。已关闭的问题也可保留 1 条，证明团队在闭环。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下周计划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819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下周计划与支持请求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4859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5811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 1 号任务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809750"/>
            <a:ext cx="2114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[任务名]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负责人：[姓名]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完成标准：[标准]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24200" y="14859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257550" y="15811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 2 号任务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57550" y="1809750"/>
            <a:ext cx="2114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[任务名]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负责人：[姓名]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完成标准：[标准]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15000" y="14859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48350" y="15811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 3 号任务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48350" y="1809750"/>
            <a:ext cx="2114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[任务名]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负责人：[姓名]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完成标准：[标准]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05800" y="1485900"/>
            <a:ext cx="27051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439150" y="1581150"/>
            <a:ext cx="243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 4 号任务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39150" y="1809750"/>
            <a:ext cx="2438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[任务名]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负责人：[姓名]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完成标准：[标准]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2819400"/>
            <a:ext cx="34290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2914650"/>
            <a:ext cx="3162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需要谁支持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3143250"/>
            <a:ext cx="3162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[数据 owner / 业务 owner / QA / 研发同学]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191000" y="2819400"/>
            <a:ext cx="34290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324350" y="2914650"/>
            <a:ext cx="3162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需要什么决策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324350" y="3143250"/>
            <a:ext cx="3162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[需要团队确认的事项]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48600" y="2819400"/>
            <a:ext cx="316230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981950" y="2914650"/>
            <a:ext cx="2895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RACI 备注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81950" y="3143250"/>
            <a:ext cx="2895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R：[执行]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A：[负责]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C：[协助]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I：[知会]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2450" y="3894455"/>
            <a:ext cx="10459085" cy="190754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79830" y="4599940"/>
            <a:ext cx="9203690" cy="2616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计划排期图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79830" y="5096510"/>
            <a:ext cx="9203690" cy="4705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可贴下周排期、里程碑、看板视图。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2450" y="594360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如何填写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191250"/>
            <a:ext cx="3333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下周计划不能只写“继续推进”。至少写任务、责任人、完成标准。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210050" y="5943600"/>
            <a:ext cx="321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完整标准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210050" y="6191250"/>
            <a:ext cx="32194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听完这一页，别人能一眼看出：你下周做什么、卡在哪、团队能怎么帮。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C26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/>
          <p:cNvSpPr>
            <a:spLocks noGrp="1"/>
          </p:cNvSpPr>
          <p:nvPr/>
        </p:nvSpPr>
        <p:spPr>
          <a:xfrm>
            <a:off x="552450" y="438150"/>
            <a:ext cx="95250" cy="9525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/>
          <p:cNvSpPr>
            <a:spLocks noGrp="1"/>
          </p:cNvSpPr>
          <p:nvPr/>
        </p:nvSpPr>
        <p:spPr>
          <a:xfrm>
            <a:off x="781050" y="3810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复盘与自检</a:t>
            </a:r>
            <a:endParaRPr sz="75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762000"/>
            <a:ext cx="8763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复盘、改进与提交前自检</a:t>
            </a:r>
            <a:endParaRPr sz="255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37160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466850"/>
            <a:ext cx="2781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这周做得好的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695450"/>
            <a:ext cx="2781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[继续保持的 2-3 点]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29050" y="1371600"/>
            <a:ext cx="3048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962400" y="1466850"/>
            <a:ext cx="2781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这周做得不好的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962400" y="1695450"/>
            <a:ext cx="27813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[需要修正的 2-3 点]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105650" y="1371600"/>
            <a:ext cx="39243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1466850"/>
            <a:ext cx="3657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下周要改变什么</a:t>
            </a:r>
            <a:endParaRPr sz="825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0" y="1695450"/>
            <a:ext cx="36576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[把复盘转成动作]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2450" y="2838450"/>
            <a:ext cx="2857500" cy="1333500"/>
          </a:xfrm>
          <a:prstGeom prst="rect">
            <a:avLst/>
          </a:prstGeom>
          <a:solidFill>
            <a:srgbClr val="FFFDF9"/>
          </a:solidFill>
          <a:ln w="19050">
            <a:solidFill>
              <a:srgbClr val="C9842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3009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984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贴图区域</a:t>
            </a:r>
            <a:endParaRPr sz="1350" b="1">
              <a:solidFill>
                <a:srgbClr val="C984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35280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复盘依据图</a:t>
            </a:r>
            <a:endParaRPr sz="90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" y="37147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可贴问题单、反馈记录、流程图、统计结果。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38550" y="2838450"/>
            <a:ext cx="7391400" cy="1333500"/>
          </a:xfrm>
          <a:prstGeom prst="rect">
            <a:avLst/>
          </a:prstGeom>
          <a:solidFill>
            <a:srgbClr val="F5E4C9"/>
          </a:solidFill>
          <a:ln w="9525">
            <a:solidFill>
              <a:srgbClr val="C9842B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638550" y="2838450"/>
            <a:ext cx="57150" cy="1333500"/>
          </a:xfrm>
          <a:prstGeom prst="rect">
            <a:avLst/>
          </a:prstGeom>
          <a:solidFill>
            <a:srgbClr val="C98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790950" y="2952750"/>
            <a:ext cx="7086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推荐句式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90950" y="3200400"/>
            <a:ext cx="70866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问题：[现象] → 原因：[判断] → 改进：[动作] → 下周验证：[怎么判断有效]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4991100"/>
            <a:ext cx="10477500" cy="533400"/>
          </a:xfrm>
          <a:prstGeom prst="rect">
            <a:avLst/>
          </a:prstGeom>
          <a:solidFill>
            <a:srgbClr val="DCEEF2"/>
          </a:solidFill>
          <a:ln w="9525">
            <a:solidFill>
              <a:srgbClr val="1B7C9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4991100"/>
            <a:ext cx="57150" cy="533400"/>
          </a:xfrm>
          <a:prstGeom prst="rect">
            <a:avLst/>
          </a:prstGeom>
          <a:solidFill>
            <a:srgbClr val="1B7C9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5105400"/>
            <a:ext cx="10172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提交前自检</a:t>
            </a:r>
            <a:endParaRPr sz="940" b="1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5353050"/>
            <a:ext cx="101727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汇报前 5 分钟，对照下面勾一遍。没勾上的，优先补证据或删掉空白模块。</a:t>
            </a:r>
            <a:endParaRPr sz="825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5657850"/>
            <a:ext cx="114300" cy="114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757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95350" y="56197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目标和背景写清楚了</a:t>
            </a:r>
            <a:endParaRPr sz="865" b="0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90900" y="56197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别人能看懂这周为什么做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6750" y="5962650"/>
            <a:ext cx="114300" cy="114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757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95350" y="59245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 / 未完成都写了</a:t>
            </a:r>
            <a:endParaRPr sz="865" b="0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90900" y="59245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未完成项有原因和后续动作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6267450"/>
            <a:ext cx="114300" cy="114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757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95350" y="62293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18223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至少贴了 2 类不同证据</a:t>
            </a:r>
            <a:endParaRPr sz="865" b="0">
              <a:solidFill>
                <a:srgbClr val="18223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390900" y="62293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例如 PR + 页面图 / 日志 + 会议纪要</a:t>
            </a:r>
            <a:endParaRPr sz="81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9D0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6553200"/>
            <a:ext cx="942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模板说明：把所有 [方括号] 替换为真实内容；有图优先贴图，没有图就删掉图框并补一句说明。</a:t>
            </a:r>
            <a:endParaRPr sz="640" b="0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1201400" y="65151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67748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900" b="1">
              <a:solidFill>
                <a:srgbClr val="67748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3583</Words>
  <Application>WPS 演示</Application>
  <PresentationFormat>Converted Presentation</PresentationFormat>
  <Paragraphs>550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孙晓晅</cp:lastModifiedBy>
  <cp:revision>2</cp:revision>
  <dcterms:created xsi:type="dcterms:W3CDTF">2026-05-21T03:03:24Z</dcterms:created>
  <dcterms:modified xsi:type="dcterms:W3CDTF">2026-05-21T03:03:24Z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0559C0B0AE9987D0DD750E6AA4A1A363_42</vt:lpwstr>
  </property>
  <property fmtid="{D5CDD505-2E9C-101B-9397-08002B2CF9AE}" pid="3" name="KSOProductBuildVer">
    <vt:lpwstr>2052-6.7.1.8828</vt:lpwstr>
  </property>
</Properties>
</file>